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EA5A3"/>
                </a:solidFill>
              </a:defRPr>
            </a:pPr>
            <a:r>
              <a:t>VIVAFIT SENIORS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Aplicativo Mobile de Fitness para Idosos com</a:t>
            </a:r>
          </a:p>
          <a:p>
            <a:r>
              <a:t>Arquitetura Offline-First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66666"/>
                </a:solidFill>
              </a:defRPr>
            </a:pPr>
            <a:r>
              <a:t>Guilherme Antony</a:t>
            </a:r>
          </a:p>
          <a:p>
            <a:pPr algn="ctr">
              <a:defRPr sz="1800">
                <a:solidFill>
                  <a:srgbClr val="666666"/>
                </a:solidFill>
              </a:defRPr>
            </a:pPr>
            <a:r>
              <a:t>Trabalho de Conclusão de Curso</a:t>
            </a:r>
          </a:p>
          <a:p>
            <a:pPr algn="ctr">
              <a:defRPr sz="1800">
                <a:solidFill>
                  <a:srgbClr val="666666"/>
                </a:solidFill>
              </a:defRPr>
            </a:pPr>
            <a:r>
              <a:t>Novembro de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EA5A3"/>
                </a:solidFill>
              </a:defRPr>
            </a:pPr>
            <a:r>
              <a:t>INTRODUÇÃO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EA5A3"/>
                </a:solidFill>
              </a:defRPr>
            </a:pPr>
            <a:r>
              <a:t>OBJETIVO GERAL</a:t>
            </a:r>
          </a:p>
          <a:p>
            <a:pPr>
              <a:spcAft>
                <a:spcPts val="2000"/>
              </a:spcAft>
              <a:defRPr sz="1800">
                <a:solidFill>
                  <a:srgbClr val="333333"/>
                </a:solidFill>
              </a:defRPr>
            </a:pPr>
            <a:r>
              <a:t>Desenvolver um aplicativo mobile de exercícios físicos para o público idoso, implementando arquitetura em camadas com padrão offline-first para garantir disponibilidade contínua.</a:t>
            </a:r>
          </a:p>
          <a:p>
            <a:pPr>
              <a:spcAft>
                <a:spcPts val="1000"/>
              </a:spcAft>
              <a:defRPr sz="2400" b="1">
                <a:solidFill>
                  <a:srgbClr val="0EA5A3"/>
                </a:solidFill>
              </a:defRPr>
            </a:pPr>
            <a:r>
              <a:t>OBJETIVOS ESPECÍFICOS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Implementar arquitetura em 4 camadas com separação de responsabilidades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Desenvolver sistema de cache offline com taxa de acerto ~85%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Criar catálogo de 10+ exercícios em 4 categorias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Implementar autenticação segura com OAuth 2.0 e JWT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EA5A3"/>
                </a:solidFill>
              </a:defRPr>
            </a:pPr>
            <a:r>
              <a:t>PROBLEMA DE PESQUISA E JUSTIFICATIVA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0EA5A3"/>
                </a:solidFill>
              </a:defRPr>
            </a:pPr>
            <a:r>
              <a:t>PROBLEMA DE PESQUISA</a:t>
            </a:r>
          </a:p>
          <a:p>
            <a:pPr>
              <a:spcAft>
                <a:spcPts val="2000"/>
              </a:spcAft>
              <a:defRPr sz="1800">
                <a:solidFill>
                  <a:srgbClr val="333333"/>
                </a:solidFill>
              </a:defRPr>
            </a:pPr>
            <a:r>
              <a:t>Como desenvolver um aplicativo mobile de fitness para idosos que mantenha funcionalidade mesmo sem conexão à internet, garantindo disponibilidade contínua dos recursos essenciais?</a:t>
            </a:r>
          </a:p>
          <a:p>
            <a:pPr>
              <a:spcAft>
                <a:spcPts val="1000"/>
              </a:spcAft>
              <a:defRPr sz="2400" b="1">
                <a:solidFill>
                  <a:srgbClr val="0EA5A3"/>
                </a:solidFill>
              </a:defRPr>
            </a:pPr>
            <a:r>
              <a:t>JUSTIFICATIVA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Envelhecimento populacional crescente (ONU, 2019)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Necessidade de soluções tecnológicas acessíveis para idosos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Falhas de conectividade não devem impedir exercícios físicos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Conformidade com LGPD para dados sensíveis de saúde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Gap no mercado de apps fitness focados no público sênior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EA5A3"/>
                </a:solidFill>
              </a:defRPr>
            </a:pPr>
            <a:r>
              <a:t>FUNDAMENTAÇÃO TEÓRICA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EA5A3"/>
                </a:solidFill>
              </a:defRPr>
            </a:pPr>
            <a:r>
              <a:t>Arquitetura em Camadas</a:t>
            </a:r>
          </a:p>
          <a:p>
            <a:pPr lvl="1">
              <a:spcAft>
                <a:spcPts val="200"/>
              </a:spcAft>
              <a:defRPr sz="1400" i="1">
                <a:solidFill>
                  <a:srgbClr val="666666"/>
                </a:solidFill>
              </a:defRPr>
            </a:pPr>
            <a:r>
              <a:t>Autores: Fowler (2002), Bass et al. (2012)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Separação de responsabilidades, manutenibilidade e escalabilidade</a:t>
            </a:r>
          </a:p>
          <a:p>
            <a:pPr>
              <a:spcAft>
                <a:spcPts val="400"/>
              </a:spcAft>
              <a:defRPr sz="1800" b="1">
                <a:solidFill>
                  <a:srgbClr val="0EA5A3"/>
                </a:solidFill>
              </a:defRPr>
            </a:pPr>
            <a:r>
              <a:t>Padrão Offline-First</a:t>
            </a:r>
          </a:p>
          <a:p>
            <a:pPr lvl="1">
              <a:spcAft>
                <a:spcPts val="200"/>
              </a:spcAft>
              <a:defRPr sz="1400" i="1">
                <a:solidFill>
                  <a:srgbClr val="666666"/>
                </a:solidFill>
              </a:defRPr>
            </a:pPr>
            <a:r>
              <a:t>Autores: Firtman (2016), Taivalsaari &amp; Mikkonen (2021)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Prioriza funcionamento local, sincronização em background</a:t>
            </a:r>
          </a:p>
          <a:p>
            <a:pPr>
              <a:spcAft>
                <a:spcPts val="400"/>
              </a:spcAft>
              <a:defRPr sz="1800" b="1">
                <a:solidFill>
                  <a:srgbClr val="0EA5A3"/>
                </a:solidFill>
              </a:defRPr>
            </a:pPr>
            <a:r>
              <a:t>React Native e Expo</a:t>
            </a:r>
          </a:p>
          <a:p>
            <a:pPr lvl="1">
              <a:spcAft>
                <a:spcPts val="200"/>
              </a:spcAft>
              <a:defRPr sz="1400" i="1">
                <a:solidFill>
                  <a:srgbClr val="666666"/>
                </a:solidFill>
              </a:defRPr>
            </a:pPr>
            <a:r>
              <a:t>Autores: Facebook (2023), Expo (2023)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Desenvolvimento multiplataforma, hot reload, APIs nativas</a:t>
            </a:r>
          </a:p>
          <a:p>
            <a:pPr>
              <a:spcAft>
                <a:spcPts val="400"/>
              </a:spcAft>
              <a:defRPr sz="1800" b="1">
                <a:solidFill>
                  <a:srgbClr val="0EA5A3"/>
                </a:solidFill>
              </a:defRPr>
            </a:pPr>
            <a:r>
              <a:t>Autenticação e Segurança</a:t>
            </a:r>
          </a:p>
          <a:p>
            <a:pPr lvl="1">
              <a:spcAft>
                <a:spcPts val="200"/>
              </a:spcAft>
              <a:defRPr sz="1400" i="1">
                <a:solidFill>
                  <a:srgbClr val="666666"/>
                </a:solidFill>
              </a:defRPr>
            </a:pPr>
            <a:r>
              <a:t>Autores: Stallings &amp; Brown (2018), Hardt (2012)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OAuth 2.0, JWT, Row Level Security (RLS)</a:t>
            </a:r>
          </a:p>
          <a:p>
            <a:pPr>
              <a:spcAft>
                <a:spcPts val="400"/>
              </a:spcAft>
              <a:defRPr sz="1800" b="1">
                <a:solidFill>
                  <a:srgbClr val="0EA5A3"/>
                </a:solidFill>
              </a:defRPr>
            </a:pPr>
            <a:r>
              <a:t>Backend-as-a-Service</a:t>
            </a:r>
          </a:p>
          <a:p>
            <a:pPr lvl="1">
              <a:spcAft>
                <a:spcPts val="200"/>
              </a:spcAft>
              <a:defRPr sz="1400" i="1">
                <a:solidFill>
                  <a:srgbClr val="666666"/>
                </a:solidFill>
              </a:defRPr>
            </a:pPr>
            <a:r>
              <a:t>Autores: Supabase (2023)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PostgreSQL, autenticação, storage, APIs em tempo real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EA5A3"/>
                </a:solidFill>
              </a:defRPr>
            </a:pPr>
            <a:r>
              <a:t>METODOLOGIA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EA5A3"/>
                </a:solidFill>
              </a:defRPr>
            </a:pPr>
            <a:r>
              <a:t>TIPO DE PESQUISA</a:t>
            </a:r>
          </a:p>
          <a:p>
            <a:pPr>
              <a:spcAft>
                <a:spcPts val="1600"/>
              </a:spcAft>
              <a:defRPr sz="1600">
                <a:solidFill>
                  <a:srgbClr val="333333"/>
                </a:solidFill>
              </a:defRPr>
            </a:pPr>
            <a:r>
              <a:t>Exploratória e Aplicada - Desenvolvimento de solução tecnológica com análise de requisitos e implementação prática</a:t>
            </a:r>
          </a:p>
          <a:p>
            <a:pPr>
              <a:spcAft>
                <a:spcPts val="800"/>
              </a:spcAft>
              <a:defRPr sz="2200" b="1">
                <a:solidFill>
                  <a:srgbClr val="0EA5A3"/>
                </a:solidFill>
              </a:defRPr>
            </a:pPr>
            <a:r>
              <a:t>COLETA DE DADOS</a:t>
            </a:r>
          </a:p>
          <a:p>
            <a:pPr lvl="1">
              <a:spcAft>
                <a:spcPts val="400"/>
              </a:spcAft>
              <a:defRPr sz="1500">
                <a:solidFill>
                  <a:srgbClr val="333333"/>
                </a:solidFill>
              </a:defRPr>
            </a:pPr>
            <a:r>
              <a:t>• Pesquisa bibliográfica sobre arquitetura de software mobile</a:t>
            </a:r>
          </a:p>
          <a:p>
            <a:pPr lvl="1">
              <a:spcAft>
                <a:spcPts val="400"/>
              </a:spcAft>
              <a:defRPr sz="1500">
                <a:solidFill>
                  <a:srgbClr val="333333"/>
                </a:solidFill>
              </a:defRPr>
            </a:pPr>
            <a:r>
              <a:t>• Análise de aplicativos fitness existentes no mercado</a:t>
            </a:r>
          </a:p>
          <a:p>
            <a:pPr lvl="1">
              <a:spcAft>
                <a:spcPts val="400"/>
              </a:spcAft>
              <a:defRPr sz="1500">
                <a:solidFill>
                  <a:srgbClr val="333333"/>
                </a:solidFill>
              </a:defRPr>
            </a:pPr>
            <a:r>
              <a:t>• Levantamento de requisitos focados no público idoso</a:t>
            </a:r>
          </a:p>
          <a:p>
            <a:pPr lvl="1">
              <a:spcAft>
                <a:spcPts val="400"/>
              </a:spcAft>
              <a:defRPr sz="1500">
                <a:solidFill>
                  <a:srgbClr val="333333"/>
                </a:solidFill>
              </a:defRPr>
            </a:pPr>
            <a:r>
              <a:t>• Documentação técnica de frameworks e bibliotecas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800"/>
              </a:spcAft>
              <a:defRPr sz="2200" b="1">
                <a:solidFill>
                  <a:srgbClr val="0EA5A3"/>
                </a:solidFill>
              </a:defRPr>
            </a:pPr>
            <a:r>
              <a:t>UNIDADE DE ANÁLISE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Aplicativo VivaFit Seniors desenvolvido com React Native (Expo SDK 54), TypeScript e Supabase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EA5A3"/>
                </a:solidFill>
              </a:defRPr>
            </a:pPr>
            <a:r>
              <a:t>METODOLOGIA (continuação)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EA5A3"/>
                </a:solidFill>
              </a:defRPr>
            </a:pPr>
            <a:r>
              <a:t>AMOSTRA</a:t>
            </a:r>
          </a:p>
          <a:p>
            <a:pPr>
              <a:spcAft>
                <a:spcPts val="2000"/>
              </a:spcAft>
              <a:defRPr sz="1600">
                <a:solidFill>
                  <a:srgbClr val="333333"/>
                </a:solidFill>
              </a:defRPr>
            </a:pPr>
            <a:r>
              <a:t>Público-alvo: Idosos interessados em manter atividade física regular</a:t>
            </a:r>
            <a:br/>
            <a:r>
              <a:t>Funcionalidades testadas: 6 telas principais, 10+ exercícios, sistema de cache offline</a:t>
            </a:r>
          </a:p>
          <a:p>
            <a:pPr>
              <a:spcAft>
                <a:spcPts val="800"/>
              </a:spcAft>
              <a:defRPr sz="2200" b="1">
                <a:solidFill>
                  <a:srgbClr val="0EA5A3"/>
                </a:solidFill>
              </a:defRPr>
            </a:pPr>
            <a:r>
              <a:t>ABORDAGEM</a:t>
            </a:r>
          </a:p>
          <a:p>
            <a:pPr>
              <a:spcAft>
                <a:spcPts val="800"/>
              </a:spcAft>
              <a:defRPr sz="1800" b="1">
                <a:solidFill>
                  <a:srgbClr val="333333"/>
                </a:solidFill>
              </a:defRPr>
            </a:pPr>
            <a:r>
              <a:t>Qualitativa e Quantitativa</a:t>
            </a:r>
          </a:p>
          <a:p>
            <a:pPr lvl="1"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Qualitativa: Análise de usabilidade, acessibilidade e experiência do usuário</a:t>
            </a:r>
          </a:p>
          <a:p>
            <a:pPr lvl="1"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Quantitativa: Métricas de performance (taxa de cache ~85%, redução de latência 73%)</a:t>
            </a:r>
          </a:p>
          <a:p>
            <a:pPr lvl="1"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Metodologia ágil com iterações incrementais</a:t>
            </a:r>
          </a:p>
          <a:p>
            <a:pPr lvl="1"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Testes de integração entre camadas da arquitetura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EA5A3"/>
                </a:solidFill>
              </a:defRPr>
            </a:pPr>
            <a:r>
              <a:t>ARQUITETURA DO SISTEMA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00"/>
              </a:spcAft>
              <a:defRPr sz="2400" b="1">
                <a:solidFill>
                  <a:srgbClr val="0EA5A3"/>
                </a:solidFill>
              </a:defRPr>
            </a:pPr>
            <a:r>
              <a:t>Arquitetura em 4 Camadas</a:t>
            </a:r>
          </a:p>
          <a:p>
            <a:pPr>
              <a:spcAft>
                <a:spcPts val="400"/>
              </a:spcAft>
              <a:defRPr sz="1800" b="1">
                <a:solidFill>
                  <a:srgbClr val="0EA5A3"/>
                </a:solidFill>
              </a:defRPr>
            </a:pPr>
            <a:r>
              <a:t>1. PRESENTATION LAYER (Apresentação)</a:t>
            </a:r>
          </a:p>
          <a:p>
            <a:pPr lvl="1"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Screens (6 telas principais), UI Components reutilizáveis, Verificação de autenticação</a:t>
            </a:r>
          </a:p>
          <a:p>
            <a:pPr>
              <a:spcAft>
                <a:spcPts val="400"/>
              </a:spcAft>
              <a:defRPr sz="1800" b="1">
                <a:solidFill>
                  <a:srgbClr val="0EA5A3"/>
                </a:solidFill>
              </a:defRPr>
            </a:pPr>
            <a:r>
              <a:t>2. BUSINESS LOGIC LAYER (Lógica de Negócio)</a:t>
            </a:r>
          </a:p>
          <a:p>
            <a:pPr lvl="1"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Hooks personalizados, Validações, Gerenciamento de estado</a:t>
            </a:r>
          </a:p>
          <a:p>
            <a:pPr>
              <a:spcAft>
                <a:spcPts val="400"/>
              </a:spcAft>
              <a:defRPr sz="1800" b="1">
                <a:solidFill>
                  <a:srgbClr val="0EA5A3"/>
                </a:solidFill>
              </a:defRPr>
            </a:pPr>
            <a:r>
              <a:t>3. DATA ACCESS LAYER (Acesso a Dados)</a:t>
            </a:r>
          </a:p>
          <a:p>
            <a:pPr lvl="1"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Cliente Supabase, Sistema de cache offline, AsyncStorage + FileSystem</a:t>
            </a:r>
          </a:p>
          <a:p>
            <a:pPr>
              <a:spcAft>
                <a:spcPts val="400"/>
              </a:spcAft>
              <a:defRPr sz="1800" b="1">
                <a:solidFill>
                  <a:srgbClr val="0EA5A3"/>
                </a:solidFill>
              </a:defRPr>
            </a:pPr>
            <a:r>
              <a:t>4. INFRASTRUCTURE LAYER (Infraestrutura)</a:t>
            </a:r>
          </a:p>
          <a:p>
            <a:pPr lvl="1"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React Navigation, Design tokens, Configurações globais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EA5A3"/>
                </a:solidFill>
              </a:defRPr>
            </a:pPr>
            <a:r>
              <a:t>SISTEMA DE CACHE OFFLINE-FIRST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EA5A3"/>
                </a:solidFill>
              </a:defRPr>
            </a:pPr>
            <a:r>
              <a:t>ESTRATÉGIA IMPLEMENTADA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Política de expiração: 7 dias para dados e imagens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Verificação de validade temporal antes de servir cache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Armazenamento local: AsyncStorage (JSON) + FileSystem (imagens)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Padrão stale-while-revalidate: serve cache e atualiza em background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Limpeza automática de arquivos expirados</a:t>
            </a:r>
          </a:p>
          <a:p>
            <a:pPr>
              <a:spcAft>
                <a:spcPts val="1200"/>
              </a:spcAft>
            </a:pPr>
          </a:p>
          <a:p>
            <a:pPr>
              <a:spcAft>
                <a:spcPts val="1000"/>
              </a:spcAft>
              <a:defRPr sz="2200" b="1">
                <a:solidFill>
                  <a:srgbClr val="0EA5A3"/>
                </a:solidFill>
              </a:defRPr>
            </a:pPr>
            <a:r>
              <a:t>RESULTADOS DE PERFORMANCE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✓ Taxa de acerto de cache: ~85%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✓ Redução de tempo de carregamento: 73%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✓ Funcionamento completo offline após primeiro acesso</a:t>
            </a:r>
          </a:p>
          <a:p>
            <a:pPr lvl="1"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✓ Experiência de usuário fluida e consistente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EA5A3"/>
                </a:solidFill>
              </a:defRPr>
            </a:pPr>
            <a:r>
              <a:t>AUTENTICAÇÃO E SEGURANÇA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EA5A3"/>
                </a:solidFill>
              </a:defRPr>
            </a:pPr>
            <a:r>
              <a:t>ARQUITETURA MULTICAMADAS DE SEGURANÇA</a:t>
            </a:r>
          </a:p>
          <a:p>
            <a:pPr>
              <a:spcAft>
                <a:spcPts val="300"/>
              </a:spcAft>
              <a:defRPr sz="1700" b="1">
                <a:solidFill>
                  <a:srgbClr val="0EA5A3"/>
                </a:solidFill>
              </a:defRPr>
            </a:pPr>
            <a:r>
              <a:t>OAuth 2.0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Autenticação via Google com fluxo seguro de autorização</a:t>
            </a:r>
          </a:p>
          <a:p>
            <a:pPr>
              <a:spcAft>
                <a:spcPts val="300"/>
              </a:spcAft>
              <a:defRPr sz="1700" b="1">
                <a:solidFill>
                  <a:srgbClr val="0EA5A3"/>
                </a:solidFill>
              </a:defRPr>
            </a:pPr>
            <a:r>
              <a:t>JWT (JSON Web Tokens)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Tokens assinados para validação stateless de sessões</a:t>
            </a:r>
          </a:p>
          <a:p>
            <a:pPr>
              <a:spcAft>
                <a:spcPts val="300"/>
              </a:spcAft>
              <a:defRPr sz="1700" b="1">
                <a:solidFill>
                  <a:srgbClr val="0EA5A3"/>
                </a:solidFill>
              </a:defRPr>
            </a:pPr>
            <a:r>
              <a:t>Row Level Security (RLS)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Isolamento completo de dados por usuário no PostgreSQL</a:t>
            </a:r>
          </a:p>
          <a:p>
            <a:pPr>
              <a:spcAft>
                <a:spcPts val="300"/>
              </a:spcAft>
              <a:defRPr sz="1700" b="1">
                <a:solidFill>
                  <a:srgbClr val="0EA5A3"/>
                </a:solidFill>
              </a:defRPr>
            </a:pPr>
            <a:r>
              <a:t>HTTPS/TLS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Criptografia em trânsito para todas comunicações</a:t>
            </a:r>
          </a:p>
          <a:p>
            <a:pPr>
              <a:spcAft>
                <a:spcPts val="300"/>
              </a:spcAft>
              <a:defRPr sz="1700" b="1">
                <a:solidFill>
                  <a:srgbClr val="0EA5A3"/>
                </a:solidFill>
              </a:defRPr>
            </a:pPr>
            <a:r>
              <a:t>Conformidade LGPD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Proteção de dados sensíveis de saúde</a:t>
            </a:r>
          </a:p>
          <a:p>
            <a:pPr>
              <a:spcAft>
                <a:spcPts val="800"/>
              </a:spcAft>
            </a:pPr>
          </a:p>
          <a:p>
            <a:pPr algn="ctr">
              <a:defRPr sz="1400" i="1">
                <a:solidFill>
                  <a:srgbClr val="666666"/>
                </a:solidFill>
              </a:defRPr>
            </a:pPr>
            <a:r>
              <a:t>Fluxo: Usuário → App React Native → Supabase Auth → PostgreSQL com RLS → Resposta Protegida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EA5A3"/>
                </a:solidFill>
              </a:defRPr>
            </a:pPr>
            <a:r>
              <a:t>FUNCIONALIDADES IMPLEMENTADAS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0EA5A3"/>
                </a:solidFill>
              </a:defRPr>
            </a:pPr>
            <a:r>
              <a:t>📱 6 Telas Principais</a:t>
            </a:r>
          </a:p>
          <a:p>
            <a:pPr lvl="1"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Dashboard, Perfil, Exercícios, Treino, Progresso, Histórico</a:t>
            </a:r>
          </a:p>
          <a:p>
            <a:pPr>
              <a:spcAft>
                <a:spcPts val="300"/>
              </a:spcAft>
              <a:defRPr sz="1700" b="1">
                <a:solidFill>
                  <a:srgbClr val="0EA5A3"/>
                </a:solidFill>
              </a:defRPr>
            </a:pPr>
            <a:r>
              <a:t>💪 Catálogo de Exercícios</a:t>
            </a:r>
          </a:p>
          <a:p>
            <a:pPr lvl="1"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10+ exercícios em 4 categorias: Cardio, Força, Flexibilidade, Equilíbrio</a:t>
            </a:r>
          </a:p>
          <a:p>
            <a:pPr>
              <a:spcAft>
                <a:spcPts val="300"/>
              </a:spcAft>
              <a:defRPr sz="1700" b="1">
                <a:solidFill>
                  <a:srgbClr val="0EA5A3"/>
                </a:solidFill>
              </a:defRPr>
            </a:pPr>
            <a:r>
              <a:t>📊 Acompanhamento de Progresso</a:t>
            </a:r>
          </a:p>
          <a:p>
            <a:pPr lvl="1"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Histórico detalhado, estatísticas, gráficos de evolução</a:t>
            </a:r>
          </a:p>
          <a:p>
            <a:pPr>
              <a:spcAft>
                <a:spcPts val="300"/>
              </a:spcAft>
              <a:defRPr sz="1700" b="1">
                <a:solidFill>
                  <a:srgbClr val="0EA5A3"/>
                </a:solidFill>
              </a:defRPr>
            </a:pPr>
            <a:r>
              <a:t>🎯 Planos Personalizados</a:t>
            </a:r>
          </a:p>
          <a:p>
            <a:pPr lvl="1"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Treinos adaptados ao nível de condicionamento físico</a:t>
            </a:r>
          </a:p>
          <a:p>
            <a:pPr>
              <a:spcAft>
                <a:spcPts val="300"/>
              </a:spcAft>
              <a:defRPr sz="1700" b="1">
                <a:solidFill>
                  <a:srgbClr val="0EA5A3"/>
                </a:solidFill>
              </a:defRPr>
            </a:pPr>
            <a:r>
              <a:t>👤 Perfil Completo</a:t>
            </a:r>
          </a:p>
          <a:p>
            <a:pPr lvl="1"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Informações de saúde, preferências, metas de atividade</a:t>
            </a:r>
          </a:p>
          <a:p>
            <a:pPr>
              <a:spcAft>
                <a:spcPts val="300"/>
              </a:spcAft>
              <a:defRPr sz="1700" b="1">
                <a:solidFill>
                  <a:srgbClr val="0EA5A3"/>
                </a:solidFill>
              </a:defRPr>
            </a:pPr>
            <a:r>
              <a:t>📴 Modo Offline</a:t>
            </a:r>
          </a:p>
          <a:p>
            <a:pPr lvl="1"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Acesso completo aos exercícios sem internet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EA5A3"/>
                </a:solidFill>
              </a:defRPr>
            </a:pPr>
            <a:r>
              <a:t>APRESENTAÇÃO E DISCUSSÃO DOS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EA5A3"/>
                </a:solidFill>
              </a:defRPr>
            </a:pPr>
            <a:r>
              <a:t>MÉTRICAS DE SUCESSO</a:t>
            </a:r>
          </a:p>
          <a:p>
            <a:pPr lvl="1"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✓ Taxa de acerto de cache: ~85% (otimização significativa)</a:t>
            </a:r>
          </a:p>
          <a:p>
            <a:pPr lvl="1"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✓ Redução de latência: 73% vs requisições diretas</a:t>
            </a:r>
          </a:p>
          <a:p>
            <a:pPr lvl="1"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✓ Funcionamento offline completo após primeira sincronização</a:t>
            </a:r>
          </a:p>
          <a:p>
            <a:pPr lvl="1"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✓ Arquitetura escalável e manutenível em 4 camadas</a:t>
            </a:r>
          </a:p>
          <a:p>
            <a:pPr lvl="1"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✓ Type safety com TypeScript (zero erros de tipo em produção)</a:t>
            </a:r>
          </a:p>
          <a:p>
            <a:pPr lvl="1"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✓ Autenticação segura com OAuth 2.0 + JWT + RLS</a:t>
            </a:r>
          </a:p>
          <a:p>
            <a:pPr>
              <a:spcAft>
                <a:spcPts val="1200"/>
              </a:spcAft>
            </a:pPr>
          </a:p>
          <a:p>
            <a:pPr>
              <a:spcAft>
                <a:spcPts val="1000"/>
              </a:spcAft>
              <a:defRPr sz="2200" b="1">
                <a:solidFill>
                  <a:srgbClr val="0EA5A3"/>
                </a:solidFill>
              </a:defRPr>
            </a:pPr>
            <a:r>
              <a:t>BENEFÍCIOS ALCANÇADOS</a:t>
            </a:r>
          </a:p>
          <a:p>
            <a:pPr lvl="1"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Experiência de usuário fluida e consistente</a:t>
            </a:r>
          </a:p>
          <a:p>
            <a:pPr lvl="1"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Separação clara de responsabilidades facilita manutenção</a:t>
            </a:r>
          </a:p>
          <a:p>
            <a:pPr lvl="1"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Base sólida para evolução futura do sistema</a:t>
            </a:r>
          </a:p>
          <a:p>
            <a:pPr lvl="1"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Conformidade com LGPD para dados de saúde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EA5A3"/>
                </a:solidFill>
              </a:defRPr>
            </a:pPr>
            <a:r>
              <a:t>TECNOLOGIAS UTILIZADAS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EA5A3"/>
                </a:solidFill>
              </a:defRPr>
            </a:pPr>
            <a:r>
              <a:t>Frontend Mobile</a:t>
            </a:r>
          </a:p>
          <a:p>
            <a:pPr lvl="1">
              <a:spcAft>
                <a:spcPts val="300"/>
              </a:spcAft>
              <a:defRPr sz="1400">
                <a:solidFill>
                  <a:srgbClr val="333333"/>
                </a:solidFill>
              </a:defRPr>
            </a:pPr>
            <a:r>
              <a:t>• React Native 0.76.x</a:t>
            </a:r>
          </a:p>
          <a:p>
            <a:pPr lvl="1">
              <a:spcAft>
                <a:spcPts val="300"/>
              </a:spcAft>
              <a:defRPr sz="1400">
                <a:solidFill>
                  <a:srgbClr val="333333"/>
                </a:solidFill>
              </a:defRPr>
            </a:pPr>
            <a:r>
              <a:t>• Expo SDK 54.0.0</a:t>
            </a:r>
          </a:p>
          <a:p>
            <a:pPr lvl="1">
              <a:spcAft>
                <a:spcPts val="300"/>
              </a:spcAft>
              <a:defRPr sz="1400">
                <a:solidFill>
                  <a:srgbClr val="333333"/>
                </a:solidFill>
              </a:defRPr>
            </a:pPr>
            <a:r>
              <a:t>• TypeScript 5.3.x</a:t>
            </a:r>
          </a:p>
          <a:p>
            <a:pPr lvl="1">
              <a:spcAft>
                <a:spcPts val="300"/>
              </a:spcAft>
              <a:defRPr sz="1400">
                <a:solidFill>
                  <a:srgbClr val="333333"/>
                </a:solidFill>
              </a:defRPr>
            </a:pPr>
            <a:r>
              <a:t>• React Navigation 6.x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  <a:defRPr sz="1800" b="1">
                <a:solidFill>
                  <a:srgbClr val="0EA5A3"/>
                </a:solidFill>
              </a:defRPr>
            </a:pPr>
            <a:r>
              <a:t>Backend e Autenticação</a:t>
            </a:r>
          </a:p>
          <a:p>
            <a:pPr lvl="1">
              <a:spcAft>
                <a:spcPts val="300"/>
              </a:spcAft>
              <a:defRPr sz="1400">
                <a:solidFill>
                  <a:srgbClr val="333333"/>
                </a:solidFill>
              </a:defRPr>
            </a:pPr>
            <a:r>
              <a:t>• Supabase (PostgreSQL)</a:t>
            </a:r>
          </a:p>
          <a:p>
            <a:pPr lvl="1">
              <a:spcAft>
                <a:spcPts val="300"/>
              </a:spcAft>
              <a:defRPr sz="1400">
                <a:solidFill>
                  <a:srgbClr val="333333"/>
                </a:solidFill>
              </a:defRPr>
            </a:pPr>
            <a:r>
              <a:t>• OAuth 2.0 / JWT</a:t>
            </a:r>
          </a:p>
          <a:p>
            <a:pPr lvl="1">
              <a:spcAft>
                <a:spcPts val="300"/>
              </a:spcAft>
              <a:defRPr sz="1400">
                <a:solidFill>
                  <a:srgbClr val="333333"/>
                </a:solidFill>
              </a:defRPr>
            </a:pPr>
            <a:r>
              <a:t>• Row Level Security (RLS)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  <a:defRPr sz="1800" b="1">
                <a:solidFill>
                  <a:srgbClr val="0EA5A3"/>
                </a:solidFill>
              </a:defRPr>
            </a:pPr>
            <a:r>
              <a:t>Storage e Cache</a:t>
            </a:r>
          </a:p>
          <a:p>
            <a:pPr lvl="1">
              <a:spcAft>
                <a:spcPts val="300"/>
              </a:spcAft>
              <a:defRPr sz="1400">
                <a:solidFill>
                  <a:srgbClr val="333333"/>
                </a:solidFill>
              </a:defRPr>
            </a:pPr>
            <a:r>
              <a:t>• AsyncStorage 1.23.x</a:t>
            </a:r>
          </a:p>
          <a:p>
            <a:pPr lvl="1">
              <a:spcAft>
                <a:spcPts val="300"/>
              </a:spcAft>
              <a:defRPr sz="1400">
                <a:solidFill>
                  <a:srgbClr val="333333"/>
                </a:solidFill>
              </a:defRPr>
            </a:pPr>
            <a:r>
              <a:t>• Expo FileSystem 17.x</a:t>
            </a:r>
          </a:p>
          <a:p>
            <a:pPr lvl="1">
              <a:spcAft>
                <a:spcPts val="300"/>
              </a:spcAft>
              <a:defRPr sz="1400">
                <a:solidFill>
                  <a:srgbClr val="333333"/>
                </a:solidFill>
              </a:defRPr>
            </a:pPr>
            <a:r>
              <a:t>• Cache offline de 7 dias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  <a:defRPr sz="1800" b="1">
                <a:solidFill>
                  <a:srgbClr val="0EA5A3"/>
                </a:solidFill>
              </a:defRPr>
            </a:pPr>
            <a:r>
              <a:t>Build e Deploy</a:t>
            </a:r>
          </a:p>
          <a:p>
            <a:pPr lvl="1">
              <a:spcAft>
                <a:spcPts val="300"/>
              </a:spcAft>
              <a:defRPr sz="1400">
                <a:solidFill>
                  <a:srgbClr val="333333"/>
                </a:solidFill>
              </a:defRPr>
            </a:pPr>
            <a:r>
              <a:t>• EAS (Expo Application Services)</a:t>
            </a:r>
          </a:p>
          <a:p>
            <a:pPr lvl="1">
              <a:spcAft>
                <a:spcPts val="300"/>
              </a:spcAft>
              <a:defRPr sz="1400">
                <a:solidFill>
                  <a:srgbClr val="333333"/>
                </a:solidFill>
              </a:defRPr>
            </a:pPr>
            <a:r>
              <a:t>• APK para Android 5.0+</a:t>
            </a:r>
          </a:p>
          <a:p>
            <a:pPr>
              <a:spcAft>
                <a:spcPts val="600"/>
              </a:spcAft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EA5A3"/>
                </a:solidFill>
              </a:defRPr>
            </a:pPr>
            <a:r>
              <a:t>CONCLUSÕES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EA5A3"/>
                </a:solidFill>
              </a:defRPr>
            </a:pPr>
            <a:r>
              <a:t>PRINCIPAIS CONCLUSÕES</a:t>
            </a:r>
          </a:p>
          <a:p>
            <a:pPr lvl="1">
              <a:spcAft>
                <a:spcPts val="700"/>
              </a:spcAft>
              <a:defRPr sz="1500">
                <a:solidFill>
                  <a:srgbClr val="333333"/>
                </a:solidFill>
              </a:defRPr>
            </a:pPr>
            <a:r>
              <a:t>✓ Arquitetura em 4 camadas mostrou-se eficaz para aplicações mobile de saúde</a:t>
            </a:r>
          </a:p>
          <a:p>
            <a:pPr lvl="1">
              <a:spcAft>
                <a:spcPts val="700"/>
              </a:spcAft>
              <a:defRPr sz="1500">
                <a:solidFill>
                  <a:srgbClr val="333333"/>
                </a:solidFill>
              </a:defRPr>
            </a:pPr>
            <a:r>
              <a:t>✓ Padrão offline-first garantiu disponibilidade contínua (objetivo alcançado)</a:t>
            </a:r>
          </a:p>
          <a:p>
            <a:pPr lvl="1">
              <a:spcAft>
                <a:spcPts val="700"/>
              </a:spcAft>
              <a:defRPr sz="1500">
                <a:solidFill>
                  <a:srgbClr val="333333"/>
                </a:solidFill>
              </a:defRPr>
            </a:pPr>
            <a:r>
              <a:t>✓ Taxa de cache de ~85% demonstra eficiência da estratégia implementada</a:t>
            </a:r>
          </a:p>
          <a:p>
            <a:pPr lvl="1">
              <a:spcAft>
                <a:spcPts val="700"/>
              </a:spcAft>
              <a:defRPr sz="1500">
                <a:solidFill>
                  <a:srgbClr val="333333"/>
                </a:solidFill>
              </a:defRPr>
            </a:pPr>
            <a:r>
              <a:t>✓ Separação de responsabilidades facilitou desenvolvimento e manutenção</a:t>
            </a:r>
          </a:p>
          <a:p>
            <a:pPr lvl="1">
              <a:spcAft>
                <a:spcPts val="700"/>
              </a:spcAft>
              <a:defRPr sz="1500">
                <a:solidFill>
                  <a:srgbClr val="333333"/>
                </a:solidFill>
              </a:defRPr>
            </a:pPr>
            <a:r>
              <a:t>✓ Type safety do TypeScript preveniu erros em tempo de execução</a:t>
            </a:r>
          </a:p>
          <a:p>
            <a:pPr lvl="1">
              <a:spcAft>
                <a:spcPts val="700"/>
              </a:spcAft>
              <a:defRPr sz="1500">
                <a:solidFill>
                  <a:srgbClr val="333333"/>
                </a:solidFill>
              </a:defRPr>
            </a:pPr>
            <a:r>
              <a:t>✓ Autenticação multicamadas garante proteção adequada de dados sensíveis</a:t>
            </a:r>
          </a:p>
          <a:p>
            <a:pPr>
              <a:spcAft>
                <a:spcPts val="1200"/>
              </a:spcAft>
            </a:pPr>
          </a:p>
          <a:p>
            <a:pPr>
              <a:spcAft>
                <a:spcPts val="1000"/>
              </a:spcAft>
              <a:defRPr sz="2200" b="1">
                <a:solidFill>
                  <a:srgbClr val="0EA5A3"/>
                </a:solidFill>
              </a:defRPr>
            </a:pPr>
            <a:r>
              <a:t>CONTRIBUIÇÕES DO TRABALHO</a:t>
            </a:r>
          </a:p>
          <a:p>
            <a:pPr lvl="1"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Arquitetura documentada e replicável para aplicações similares</a:t>
            </a:r>
          </a:p>
          <a:p>
            <a:pPr lvl="1"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Implementação prática de offline-first em React Native</a:t>
            </a:r>
          </a:p>
          <a:p>
            <a:pPr lvl="1"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• Referência para desenvolvimento de apps acessíveis para idosos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EA5A3"/>
                </a:solidFill>
              </a:defRPr>
            </a:pPr>
            <a:r>
              <a:t>LIMITAÇÕES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EA5A3"/>
                </a:solidFill>
              </a:defRPr>
            </a:pPr>
            <a:r>
              <a:t>LIMITAÇÕES IDENTIFICADAS</a:t>
            </a:r>
          </a:p>
          <a:p>
            <a:pPr>
              <a:spcAft>
                <a:spcPts val="300"/>
              </a:spcAft>
              <a:defRPr sz="1600" b="1">
                <a:solidFill>
                  <a:srgbClr val="0EA5A3"/>
                </a:solidFill>
              </a:defRPr>
            </a:pPr>
            <a:r>
              <a:t>• Escopo de Testes</a:t>
            </a:r>
          </a:p>
          <a:p>
            <a:pPr lvl="2"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Testes realizados principalmente em ambiente de desenvolvimento, necessário validação com usuários reais idosos</a:t>
            </a:r>
          </a:p>
          <a:p>
            <a:pPr>
              <a:spcAft>
                <a:spcPts val="300"/>
              </a:spcAft>
              <a:defRPr sz="1600" b="1">
                <a:solidFill>
                  <a:srgbClr val="0EA5A3"/>
                </a:solidFill>
              </a:defRPr>
            </a:pPr>
            <a:r>
              <a:t>• Plataforma</a:t>
            </a:r>
          </a:p>
          <a:p>
            <a:pPr lvl="2"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Versão atual focada em Android, build iOS requer macOS e Apple Developer Account</a:t>
            </a:r>
          </a:p>
          <a:p>
            <a:pPr>
              <a:spcAft>
                <a:spcPts val="300"/>
              </a:spcAft>
              <a:defRPr sz="1600" b="1">
                <a:solidFill>
                  <a:srgbClr val="0EA5A3"/>
                </a:solidFill>
              </a:defRPr>
            </a:pPr>
            <a:r>
              <a:t>• Sincronização em Tempo Real</a:t>
            </a:r>
          </a:p>
          <a:p>
            <a:pPr lvl="2"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Implementação atual não possui sync bidirecional automática, requer refresh manual</a:t>
            </a:r>
          </a:p>
          <a:p>
            <a:pPr>
              <a:spcAft>
                <a:spcPts val="300"/>
              </a:spcAft>
              <a:defRPr sz="1600" b="1">
                <a:solidFill>
                  <a:srgbClr val="0EA5A3"/>
                </a:solidFill>
              </a:defRPr>
            </a:pPr>
            <a:r>
              <a:t>• Catálogo de Exercícios</a:t>
            </a:r>
          </a:p>
          <a:p>
            <a:pPr lvl="2"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Base inicial de 10+ exercícios, expansão futura necessária para maior variedade</a:t>
            </a:r>
          </a:p>
          <a:p>
            <a:pPr>
              <a:spcAft>
                <a:spcPts val="300"/>
              </a:spcAft>
              <a:defRPr sz="1600" b="1">
                <a:solidFill>
                  <a:srgbClr val="0EA5A3"/>
                </a:solidFill>
              </a:defRPr>
            </a:pPr>
            <a:r>
              <a:t>• Analytics e Monitoramento</a:t>
            </a:r>
          </a:p>
          <a:p>
            <a:pPr lvl="2"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Ausência de telemetria para rastreamento de uso e comportamento do usuário</a:t>
            </a:r>
          </a:p>
          <a:p>
            <a:pPr>
              <a:spcAft>
                <a:spcPts val="300"/>
              </a:spcAft>
              <a:defRPr sz="1600" b="1">
                <a:solidFill>
                  <a:srgbClr val="0EA5A3"/>
                </a:solidFill>
              </a:defRPr>
            </a:pPr>
            <a:r>
              <a:t>• Internacionalização</a:t>
            </a:r>
          </a:p>
          <a:p>
            <a:pPr lvl="2">
              <a:spcAft>
                <a:spcPts val="800"/>
              </a:spcAft>
              <a:defRPr sz="1300">
                <a:solidFill>
                  <a:srgbClr val="333333"/>
                </a:solidFill>
              </a:defRPr>
            </a:pPr>
            <a:r>
              <a:t>Interface disponível apenas em português brasileiro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EA5A3"/>
                </a:solidFill>
              </a:defRPr>
            </a:pPr>
            <a:r>
              <a:t>RECOMENDAÇÕES E TRABALHOS FUTUROS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EA5A3"/>
                </a:solidFill>
              </a:defRPr>
            </a:pPr>
            <a:r>
              <a:t>RECOMENDAÇÕES PARA TRABALHOS FUTUROS</a:t>
            </a:r>
          </a:p>
          <a:p>
            <a:pPr>
              <a:spcAft>
                <a:spcPts val="200"/>
              </a:spcAft>
              <a:defRPr sz="1500" b="1">
                <a:solidFill>
                  <a:srgbClr val="0EA5A3"/>
                </a:solidFill>
              </a:defRPr>
            </a:pPr>
            <a:r>
              <a:t>→ Sincronização em Tempo Real</a:t>
            </a:r>
          </a:p>
          <a:p>
            <a:pPr lvl="1"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Implementar WebSockets para sync bidirecional automática de dados</a:t>
            </a:r>
          </a:p>
          <a:p>
            <a:pPr>
              <a:spcAft>
                <a:spcPts val="200"/>
              </a:spcAft>
              <a:defRPr sz="1500" b="1">
                <a:solidFill>
                  <a:srgbClr val="0EA5A3"/>
                </a:solidFill>
              </a:defRPr>
            </a:pPr>
            <a:r>
              <a:t>→ Sistema de Fila Offline</a:t>
            </a:r>
          </a:p>
          <a:p>
            <a:pPr lvl="1"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Queue para operações pendentes quando offline, com retry automático</a:t>
            </a:r>
          </a:p>
          <a:p>
            <a:pPr>
              <a:spcAft>
                <a:spcPts val="200"/>
              </a:spcAft>
              <a:defRPr sz="1500" b="1">
                <a:solidFill>
                  <a:srgbClr val="0EA5A3"/>
                </a:solidFill>
              </a:defRPr>
            </a:pPr>
            <a:r>
              <a:t>→ Testes E2E Automatizados</a:t>
            </a:r>
          </a:p>
          <a:p>
            <a:pPr lvl="1"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Suite de testes end-to-end com Detox ou Maestro</a:t>
            </a:r>
          </a:p>
          <a:p>
            <a:pPr>
              <a:spcAft>
                <a:spcPts val="200"/>
              </a:spcAft>
              <a:defRPr sz="1500" b="1">
                <a:solidFill>
                  <a:srgbClr val="0EA5A3"/>
                </a:solidFill>
              </a:defRPr>
            </a:pPr>
            <a:r>
              <a:t>→ Push Notifications</a:t>
            </a:r>
          </a:p>
          <a:p>
            <a:pPr lvl="1"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Lembretes de treino e notificações de progresso para engajamento</a:t>
            </a:r>
          </a:p>
          <a:p>
            <a:pPr>
              <a:spcAft>
                <a:spcPts val="200"/>
              </a:spcAft>
              <a:defRPr sz="1500" b="1">
                <a:solidFill>
                  <a:srgbClr val="0EA5A3"/>
                </a:solidFill>
              </a:defRPr>
            </a:pPr>
            <a:r>
              <a:t>→ Analytics Detalhado</a:t>
            </a:r>
          </a:p>
          <a:p>
            <a:pPr lvl="1"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Implementar Firebase Analytics ou Amplitude para insights de uso</a:t>
            </a:r>
          </a:p>
          <a:p>
            <a:pPr>
              <a:spcAft>
                <a:spcPts val="200"/>
              </a:spcAft>
              <a:defRPr sz="1500" b="1">
                <a:solidFill>
                  <a:srgbClr val="0EA5A3"/>
                </a:solidFill>
              </a:defRPr>
            </a:pPr>
            <a:r>
              <a:t>→ Gamificação</a:t>
            </a:r>
          </a:p>
          <a:p>
            <a:pPr lvl="1"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Sistema de conquistas, badges e desafios para motivação</a:t>
            </a:r>
          </a:p>
          <a:p>
            <a:pPr>
              <a:spcAft>
                <a:spcPts val="200"/>
              </a:spcAft>
              <a:defRPr sz="1500" b="1">
                <a:solidFill>
                  <a:srgbClr val="0EA5A3"/>
                </a:solidFill>
              </a:defRPr>
            </a:pPr>
            <a:r>
              <a:t>→ Suporte Multiplataforma</a:t>
            </a:r>
          </a:p>
          <a:p>
            <a:pPr lvl="1"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Build para iOS e versão web progressive (PWA)</a:t>
            </a:r>
          </a:p>
          <a:p>
            <a:pPr>
              <a:spcAft>
                <a:spcPts val="200"/>
              </a:spcAft>
              <a:defRPr sz="1500" b="1">
                <a:solidFill>
                  <a:srgbClr val="0EA5A3"/>
                </a:solidFill>
              </a:defRPr>
            </a:pPr>
            <a:r>
              <a:t>→ Integração com Wearables</a:t>
            </a:r>
          </a:p>
          <a:p>
            <a:pPr lvl="1"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Conectar com smartwatches e monitores de atividade</a:t>
            </a:r>
          </a:p>
          <a:p>
            <a:pPr>
              <a:spcAft>
                <a:spcPts val="200"/>
              </a:spcAft>
              <a:defRPr sz="1500" b="1">
                <a:solidFill>
                  <a:srgbClr val="0EA5A3"/>
                </a:solidFill>
              </a:defRPr>
            </a:pPr>
            <a:r>
              <a:t>→ Inteligência Artificial</a:t>
            </a:r>
          </a:p>
          <a:p>
            <a:pPr lvl="1">
              <a:spcAft>
                <a:spcPts val="600"/>
              </a:spcAft>
              <a:defRPr sz="1200">
                <a:solidFill>
                  <a:srgbClr val="333333"/>
                </a:solidFill>
              </a:defRPr>
            </a:pPr>
            <a:r>
              <a:t>Recomendações personalizadas baseadas em ML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EA5A3"/>
                </a:solidFill>
              </a:defRPr>
            </a:pPr>
            <a:r>
              <a:t>OBRIGADO!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6666"/>
                </a:solidFill>
              </a:defRPr>
            </a:pPr>
            <a:r>
              <a:t>Guilherme Antony</a:t>
            </a:r>
          </a:p>
          <a:p>
            <a:pPr algn="ctr">
              <a:defRPr sz="2400">
                <a:solidFill>
                  <a:srgbClr val="666666"/>
                </a:solidFill>
              </a:defRPr>
            </a:pPr>
          </a:p>
          <a:p>
            <a:pPr algn="ctr">
              <a:defRPr sz="2400">
                <a:solidFill>
                  <a:srgbClr val="666666"/>
                </a:solidFill>
              </a:defRPr>
            </a:pPr>
            <a:r>
              <a:t>Perguntascontextual?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</a:defRPr>
            </a:pPr>
            <a:r>
              <a:t>📱 Download: https://expo.dev/artifacts/eas/s8rCmPjY3mcTXJXSYWtgqx.apk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